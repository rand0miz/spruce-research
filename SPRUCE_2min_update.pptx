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Last time SPRUCE was a learned sparse-attention selector. Since then the whole approach changed and the results got dramatically better.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old SPRUCE trained a small scorer to prune attention inside the model, approximating dense attention cheaply. It missed its own kill switch: it recovered 17 of 25 retrieval cases where dense got all 25. Rather than tune it further, we asked why dense was the thing being approximated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a sealed 288-question retrieval suite, dense reading of the whole document only got two-thirds right, and it got worse the farther the evidence sat from the question — 40 percent at 64K-128K for early-document answers. If dense degrades with length and distance, removing most of the document before the model reads it can be more accurate than reading everything, not just cheaper.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SPRUCE hashes the prompt into Boolean lexical sketches over 64-token blocks, builds a fixed radix-2 tree by union over children — no learned parameters — beam-searches it with width 16 to find 4 source blocks, expands and repairs them to paragraph boundaries, and hands the frozen model a short, exact packet to read with ordinary dense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237 of 288 correct compiled versus 192 dense, a McNemar p of five-times-ten-to-the-minus-seven, 63 wins for the compiler against 18 for dense. The gain is largest exactly where dense was weakest: shallow evidence at long context, 40 percent up to 83 percent.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the packet is sized by the beam budget, not the document, the model sees a near-constant 1,850 tokens whether the prompt is 16K or 128K. That's 2.5 to 14 times faster at every length tested, with flat memory instead of dense's climb toward 16 gigabytes.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34A38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840480" cy="3840480"/>
          </a:xfrm>
          <a:prstGeom prst="ellipse">
            <a:avLst/>
          </a:prstGeom>
          <a:solidFill>
            <a:srgbClr val="134A3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SPRUCE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777240" y="3429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E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training-free context compiler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42976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A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82.3%</a:t>
            </a:r>
            <a:endParaRPr lang="en-US" sz="4600" dirty="0"/>
          </a:p>
          <a:p>
            <a:pPr indent="0" marL="0">
              <a:buNone/>
            </a:pPr>
            <a:r>
              <a:rPr lang="en-US" sz="1300" dirty="0">
                <a:solidFill>
                  <a:srgbClr val="BFE8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vs. 66.7%  ·  compiled vs. dense</a:t>
            </a:r>
            <a:endParaRPr lang="en-US" sz="4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8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sparse selector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EAF8E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2004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O(log L)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41605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selector, inside attention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228600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EAF8EF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32004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/ 25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17720" y="41605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vs. dense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228600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0F3D2E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32004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A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/ 25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21040" y="41605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E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— kill switch missed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isn't the ceiling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66.7%</a:t>
            </a:r>
            <a:endParaRPr lang="en-US" sz="9600" dirty="0"/>
          </a:p>
          <a:p>
            <a:pPr indent="0" marL="0">
              <a:buNone/>
            </a:pPr>
            <a:r>
              <a:rPr lang="en-US" sz="1600" dirty="0">
                <a:solidFill>
                  <a:srgbClr val="BFE8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accuracy, full document</a:t>
            </a:r>
            <a:endParaRPr lang="en-US" sz="9600" dirty="0"/>
          </a:p>
        </p:txBody>
      </p:sp>
      <p:sp>
        <p:nvSpPr>
          <p:cNvPr id="4" name="Shape 2"/>
          <p:cNvSpPr/>
          <p:nvPr/>
        </p:nvSpPr>
        <p:spPr>
          <a:xfrm>
            <a:off x="6492240" y="2011680"/>
            <a:ext cx="18288" cy="2926080"/>
          </a:xfrm>
          <a:prstGeom prst="rect">
            <a:avLst/>
          </a:prstGeom>
          <a:solidFill>
            <a:srgbClr val="1F6A5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0" y="219456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BFE8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40.0%</a:t>
            </a:r>
            <a:endParaRPr lang="en-US" sz="6400" dirty="0"/>
          </a:p>
          <a:p>
            <a:pPr indent="0" marL="0">
              <a:buNone/>
            </a:pPr>
            <a:r>
              <a:rPr lang="en-US" sz="1600" dirty="0">
                <a:solidFill>
                  <a:srgbClr val="BFE8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64K–128K, evidence early in the document</a:t>
            </a:r>
            <a:endParaRPr lang="en-US" sz="6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compiles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91540" y="2377440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EAF8EF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" y="25420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FE8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28700" y="3429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811780" y="297180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8F7B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12948" y="2377440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EAF8EF"/>
          </a:solidFill>
          <a:ln/>
        </p:spPr>
      </p:sp>
      <p:sp>
        <p:nvSpPr>
          <p:cNvPr id="8" name="Text 6"/>
          <p:cNvSpPr/>
          <p:nvPr/>
        </p:nvSpPr>
        <p:spPr>
          <a:xfrm>
            <a:off x="3177540" y="25420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FE8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150108" y="3429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933188" y="297180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8F7B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34356" y="2377440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EAF8EF"/>
          </a:solidFill>
          <a:ln/>
        </p:spPr>
      </p:sp>
      <p:sp>
        <p:nvSpPr>
          <p:cNvPr id="12" name="Text 10"/>
          <p:cNvSpPr/>
          <p:nvPr/>
        </p:nvSpPr>
        <p:spPr>
          <a:xfrm>
            <a:off x="5298948" y="25420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FE8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71516" y="3429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054596" y="297180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8F7B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255764" y="2377440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EAF8EF"/>
          </a:solidFill>
          <a:ln/>
        </p:spPr>
      </p:sp>
      <p:sp>
        <p:nvSpPr>
          <p:cNvPr id="16" name="Text 14"/>
          <p:cNvSpPr/>
          <p:nvPr/>
        </p:nvSpPr>
        <p:spPr>
          <a:xfrm>
            <a:off x="7420356" y="25420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FE8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392924" y="3429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76004" y="297180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8F7B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377172" y="2377440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1FA75E"/>
          </a:solidFill>
          <a:ln/>
        </p:spPr>
      </p:sp>
      <p:sp>
        <p:nvSpPr>
          <p:cNvPr id="20" name="Text 18"/>
          <p:cNvSpPr/>
          <p:nvPr/>
        </p:nvSpPr>
        <p:spPr>
          <a:xfrm>
            <a:off x="9541764" y="25420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514332" y="3429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0080" y="4663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8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training. No paraphrasing. Exact source text.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scoreboard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926080" cy="1920240"/>
          </a:xfrm>
          <a:prstGeom prst="roundRect">
            <a:avLst>
              <a:gd name="adj" fmla="val 4762"/>
            </a:avLst>
          </a:prstGeom>
          <a:solidFill>
            <a:srgbClr val="EAF8E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B8F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192/288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8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749040" y="1371600"/>
            <a:ext cx="2926080" cy="1920240"/>
          </a:xfrm>
          <a:prstGeom prst="roundRect">
            <a:avLst>
              <a:gd name="adj" fmla="val 4762"/>
            </a:avLst>
          </a:prstGeom>
          <a:solidFill>
            <a:srgbClr val="0F3D2E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0" y="1600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A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237/288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93192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E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SPRUCE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5.2×10⁻⁷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6B8F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 wins vs. 18</a:t>
            </a:r>
            <a:endParaRPr lang="en-US" sz="2000" dirty="0"/>
          </a:p>
        </p:txBody>
      </p:sp>
      <p:pic>
        <p:nvPicPr>
          <p:cNvPr id="10" name="Image 0" descr="/sessions/sweet-laughing-cori/mnt/outputs/imgs/chart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4709160"/>
            <a:ext cx="6035040" cy="19659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223760" y="192024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A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 → 83%</a:t>
            </a:r>
            <a:endParaRPr lang="en-US" sz="4400" dirty="0"/>
          </a:p>
          <a:p>
            <a:pPr indent="0" marL="0">
              <a:buNone/>
            </a:pPr>
            <a:r>
              <a:rPr lang="en-US" sz="1500" dirty="0">
                <a:solidFill>
                  <a:srgbClr val="6B8F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hardest case: shallow evidence, 64K–128K</a:t>
            </a:r>
            <a:endParaRPr lang="en-US" sz="4400" dirty="0"/>
          </a:p>
        </p:txBody>
      </p:sp>
      <p:pic>
        <p:nvPicPr>
          <p:cNvPr id="12" name="Image 1" descr="/sessions/sweet-laughing-cori/mnt/outputs/imgs/chart_speedu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49440" y="3383280"/>
            <a:ext cx="48463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it's cheaper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41732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760720" y="141732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</p:spPr>
      </p:sp>
      <p:pic>
        <p:nvPicPr>
          <p:cNvPr id="5" name="Image 0" descr="/sessions/sweet-laughing-cori/mnt/outputs/imgs/chart_latenc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4937760" cy="3749040"/>
          </a:xfrm>
          <a:prstGeom prst="rect">
            <a:avLst/>
          </a:prstGeom>
        </p:spPr>
      </p:pic>
      <p:pic>
        <p:nvPicPr>
          <p:cNvPr id="6" name="Image 1" descr="/sessions/sweet-laughing-cori/mnt/outputs/imgs/chart_memor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1600200"/>
            <a:ext cx="4937760" cy="3749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5623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A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~1,850 tok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457200" y="6172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E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packet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251960" y="5623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A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2.5–14×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4251960" y="6172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E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046720" y="5623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A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3.27 GB flat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8046720" y="6172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E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memory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2026-07-30T18:29:19Z</dcterms:created>
  <dcterms:modified xsi:type="dcterms:W3CDTF">2026-07-30T18:29:19Z</dcterms:modified>
</cp:coreProperties>
</file>